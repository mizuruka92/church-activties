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8" r:id="rId63"/>
    <p:sldId id="317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5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18" Type="http://schemas.openxmlformats.org/officeDocument/2006/relationships/image" Target="../media/image78.png"/><Relationship Id="rId3" Type="http://schemas.openxmlformats.org/officeDocument/2006/relationships/image" Target="../media/image63.svg"/><Relationship Id="rId21" Type="http://schemas.openxmlformats.org/officeDocument/2006/relationships/image" Target="../media/image81.sv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17" Type="http://schemas.openxmlformats.org/officeDocument/2006/relationships/image" Target="../media/image77.sv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5" Type="http://schemas.openxmlformats.org/officeDocument/2006/relationships/image" Target="../media/image75.svg"/><Relationship Id="rId10" Type="http://schemas.openxmlformats.org/officeDocument/2006/relationships/image" Target="../media/image70.png"/><Relationship Id="rId19" Type="http://schemas.openxmlformats.org/officeDocument/2006/relationships/image" Target="../media/image79.svg"/><Relationship Id="rId4" Type="http://schemas.openxmlformats.org/officeDocument/2006/relationships/image" Target="../media/image64.png"/><Relationship Id="rId9" Type="http://schemas.openxmlformats.org/officeDocument/2006/relationships/image" Target="../media/image69.svg"/><Relationship Id="rId14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7.svg"/><Relationship Id="rId3" Type="http://schemas.openxmlformats.org/officeDocument/2006/relationships/image" Target="../media/image73.svg"/><Relationship Id="rId21" Type="http://schemas.openxmlformats.org/officeDocument/2006/relationships/image" Target="../media/image80.pn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6.png"/><Relationship Id="rId2" Type="http://schemas.openxmlformats.org/officeDocument/2006/relationships/image" Target="../media/image72.png"/><Relationship Id="rId16" Type="http://schemas.openxmlformats.org/officeDocument/2006/relationships/image" Target="../media/image75.svg"/><Relationship Id="rId20" Type="http://schemas.openxmlformats.org/officeDocument/2006/relationships/image" Target="../media/image7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4.png"/><Relationship Id="rId10" Type="http://schemas.openxmlformats.org/officeDocument/2006/relationships/image" Target="../media/image68.png"/><Relationship Id="rId19" Type="http://schemas.openxmlformats.org/officeDocument/2006/relationships/image" Target="../media/image78.pn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82.emf"/><Relationship Id="rId22" Type="http://schemas.openxmlformats.org/officeDocument/2006/relationships/image" Target="../media/image81.sv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83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84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85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86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87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88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89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90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91.e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92.e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93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94.e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svg"/><Relationship Id="rId18" Type="http://schemas.openxmlformats.org/officeDocument/2006/relationships/image" Target="../media/image78.png"/><Relationship Id="rId3" Type="http://schemas.openxmlformats.org/officeDocument/2006/relationships/image" Target="../media/image73.svg"/><Relationship Id="rId21" Type="http://schemas.openxmlformats.org/officeDocument/2006/relationships/image" Target="../media/image81.svg"/><Relationship Id="rId7" Type="http://schemas.openxmlformats.org/officeDocument/2006/relationships/image" Target="../media/image65.svg"/><Relationship Id="rId12" Type="http://schemas.openxmlformats.org/officeDocument/2006/relationships/image" Target="../media/image70.png"/><Relationship Id="rId17" Type="http://schemas.openxmlformats.org/officeDocument/2006/relationships/image" Target="../media/image77.svg"/><Relationship Id="rId2" Type="http://schemas.openxmlformats.org/officeDocument/2006/relationships/image" Target="../media/image7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5.svg"/><Relationship Id="rId10" Type="http://schemas.openxmlformats.org/officeDocument/2006/relationships/image" Target="../media/image68.png"/><Relationship Id="rId19" Type="http://schemas.openxmlformats.org/officeDocument/2006/relationships/image" Target="../media/image79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4" Type="http://schemas.openxmlformats.org/officeDocument/2006/relationships/image" Target="../media/image74.png"/><Relationship Id="rId22" Type="http://schemas.openxmlformats.org/officeDocument/2006/relationships/image" Target="../media/image9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hari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minggu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saat_Nata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saat_Pask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Frekuensi Mengikuti Misa</a:t>
            </a:r>
          </a:p>
        </p:txBody>
      </p:sp>
      <p:pic>
        <p:nvPicPr>
          <p:cNvPr id="3" name="Picture 2" descr="Frekuensi_Mengikuti_Misa_Saya_mengikuti_Misa_pada_Hari_Raya_Besar_lainn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relevan_dengan_tantangan_dan_kehidupan_saat_in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mendorong_saya_untuk_lebih_mendalami_doa_dan_ibad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dapat_diterapkan_dalam_kehidupan_sehari_hari_keluarga_pekerjaan_dan_masyara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543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Isi_homili_mudah_dipahami_dan_disampaikan_dengan_cara_yang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Kualitas Homili</a:t>
            </a:r>
          </a:p>
        </p:txBody>
      </p:sp>
      <p:pic>
        <p:nvPicPr>
          <p:cNvPr id="3" name="Picture 2" descr="Kualitas_Homili_Lamanya_homili_tidak_terlalu_lama_atau_tidak_terlalu_sing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Saya_telah_menerima_pelayanan_yang_baik_di_gereja_in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umat_difabe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lansi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ibu_hamil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umat_prasejahter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Gereja dan Komunitas</a:t>
            </a:r>
          </a:p>
        </p:txBody>
      </p:sp>
      <p:pic>
        <p:nvPicPr>
          <p:cNvPr id="3" name="Picture 2" descr="Pelayanan_Gereja_dan_Komunitas_Gereja_ini_terbuka_dan_ramah_bagi_anak_ana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tugas_talak_sudah_melayani_dengan_ram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Misdina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omentato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Lekto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mazmur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rodiakon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oor_paduan_suara_sudah_melayani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nayangan_teks_dan_gambar_selama_misa_dapat_terbaca_dengan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Penayangan_teks_dan_kalimat_sudah_tepat_dan_sesuai_dengan_bacaan_dan_lagu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Liturgi dan Kualitas Musik</a:t>
            </a:r>
          </a:p>
        </p:txBody>
      </p:sp>
      <p:pic>
        <p:nvPicPr>
          <p:cNvPr id="3" name="Picture 2" descr="Pelayanan_Liturgi_dan_Kualitas_Musik_Kualitas_suara_sound_system_sudah_terdengar_jelas_d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Administrasi dan Informasi</a:t>
            </a:r>
          </a:p>
        </p:txBody>
      </p:sp>
      <p:pic>
        <p:nvPicPr>
          <p:cNvPr id="3" name="Picture 2" descr="Pelayanan_Administrasi_dan_Informasi_Petugas_sekretariat_melayani_dengan_baik_dan_ram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Pelayanan Administrasi dan Informasi</a:t>
            </a:r>
          </a:p>
        </p:txBody>
      </p:sp>
      <p:pic>
        <p:nvPicPr>
          <p:cNvPr id="3" name="Picture 2" descr="Pelayanan_Administrasi_dan_Informasi_Informasi_dan_atau_dokumen_yang_dibutuhkan_dapat_disediakan_oleh_petugas_Sekretariat_dengan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3816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Ketersediaan_waktu_untuk_pengakuan_dosa_sudah_memada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Ketersediaan_imam_Romo_untuk_melayani_pengakuan_dosa_sudah_memadai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Saya_dilayani_dengan_baik_dan_ramah_saat_mengurus_persyaratan_kebutuhan_dan_administrasi_sakrame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904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Pelayanan Sakramental</a:t>
            </a:r>
          </a:p>
        </p:txBody>
      </p:sp>
      <p:pic>
        <p:nvPicPr>
          <p:cNvPr id="3" name="Picture 2" descr="Pelayanan_Sakramental_Saya_dilayani_dengan_baik_dan_ramah_oleh_petugas_dalam_pelaksanaan_Sakrame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Gereja_terasa_bersi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Petugas_Parkir_sudah_melayani_umat_dengan_baik_dalam_perparkir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Kapasitas_area_parkir_sudah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Kebijakan_biaya_parkir_sudah_tep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Fasilitas dan Lingkungan Gereja</a:t>
            </a:r>
          </a:p>
        </p:txBody>
      </p:sp>
      <p:pic>
        <p:nvPicPr>
          <p:cNvPr id="3" name="Picture 2" descr="Fasilitas_dan_Lingkungan_Gereja_Pengaturan_perparkiran_sudah_baik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Kapel_terasa_bersi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Informasi_mengenai_akses_Kapel_sudah_jela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Fasilitas dan Lingkungan Kapel (Boleh dikosongkan jika belum pernah mengunjungi Kapel Maria Bintang Laut)</a:t>
            </a:r>
          </a:p>
        </p:txBody>
      </p:sp>
      <p:pic>
        <p:nvPicPr>
          <p:cNvPr id="3" name="Picture 2" descr="Fasilitas_dan_Lingkungan_Kapel_Boleh_dikosongkan_jika_belum_pernah_mengunjungi_Kapel_Maria_Bintang_Laut_Kapel_mudah_diakses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Dampak Kebijakan Paroki</a:t>
            </a:r>
          </a:p>
        </p:txBody>
      </p:sp>
      <p:pic>
        <p:nvPicPr>
          <p:cNvPr id="3" name="Picture 2" descr="Dampak_Kebijakan_Paroki_Kebijakan_dan_aturan_paroki_membantu_saya_dalam_mengikuti_peribadatan_dengan_mudah_dan_nya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32575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Dampak Kebijakan Paroki</a:t>
            </a:r>
          </a:p>
        </p:txBody>
      </p:sp>
      <p:pic>
        <p:nvPicPr>
          <p:cNvPr id="3" name="Picture 2" descr="Dampak_Kebijakan_Paroki_Kebijakan_paroki_dalam_penyebaran_informasi_membantu_saya_untuk_mendapatkan_informasi_dengan_mud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0621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Partisipasi Kegiatan Paroki</a:t>
            </a:r>
          </a:p>
        </p:txBody>
      </p:sp>
      <p:pic>
        <p:nvPicPr>
          <p:cNvPr id="3" name="Picture 2" descr="Partisipasi_Kegiatan_Paroki_Saya_aktif_berpartisipasi_dalam_kegiatan_paroki_selain_kehadiran_pada_Misa_misal_lingkungan_seminar_bertugas_dalam_seksi_bidang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8917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Partisipasi Kegiatan Paroki</a:t>
            </a:r>
          </a:p>
        </p:txBody>
      </p:sp>
      <p:pic>
        <p:nvPicPr>
          <p:cNvPr id="3" name="Picture 2" descr="Partisipasi_Kegiatan_Paroki_Saya_secara_rutin_mengikuti_Misa_di_Paroki_Tomang_Gereja_Maria_Bunda_Karmel_atau_Kapel_Maria_Bintang_Lau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0657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aya_merasa_iman_sangatlah_penting_dalam_hidup_sa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aya_merasa_hubungan_saya_dengan_Tuhan_sudah_dekat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Iman dan Perjalanan Spiritual</a:t>
            </a:r>
          </a:p>
        </p:txBody>
      </p:sp>
      <p:pic>
        <p:nvPicPr>
          <p:cNvPr id="3" name="Picture 2" descr="Iman_dan_Perjalanan_Spiritual_Sejak_dimulainya_Tahun_Yubileum_saya_merasa_iman_saya_semakin_bertumbu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memahami_makna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memahami_tata_cara_dan_hal_yang_harus_dilakukan_untuk_mendapatkan_indulgensi_penuh_dalam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74847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Saya_telah_turut_berpartisipasi_dalam_kegiatan_kegiatan_di_Tahun_Yubileum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Tema_Peziarah_Pengharapan_sangat_merefleksikan_diri_saya_dan_perjalanan_iman_sa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Peziarahan dan Kegiatan Yubileum</a:t>
            </a:r>
          </a:p>
        </p:txBody>
      </p:sp>
      <p:pic>
        <p:nvPicPr>
          <p:cNvPr id="3" name="Picture 2" descr="Peziarahan_dan_Kegiatan_Yubileum_Rangkaian_misa_dan_kegiatan_gereja_selama_Tahun_Yubileum_membuat_saya_semakin_merasakan_cinta_Allah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3908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Menurut_saya_kegiatan_Gereja_untuk_kaum_muda_sudah_berjalan_dengan_efektif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Gereja_sudah_melibatkan_kaum_muda_dalam_kegiatan_kegiatannya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Pemuda dan Masa Depan Gereja</a:t>
            </a:r>
          </a:p>
        </p:txBody>
      </p:sp>
      <p:pic>
        <p:nvPicPr>
          <p:cNvPr id="3" name="Picture 2" descr="Pemuda_dan_Masa_Depan_Gereja_Saya_ingin_turut_berpartisipasi_dalam_kegiatan_kegiatan_orang_muda_baik_sebagai_peserta_ataupun_pendamping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0657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merasa_bahwa_kepedulian_terhadap_lingkungan_penting_dan_menunjukan_sikap_umat_beri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5515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Gereja_sudah_mengupayakan_dan_menyuarakan_seruan_untuk_merawat_lingkung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selalu_memiliki_kesadaran_terhadap_menjaga_lingkungan_hidup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merasa_bahwa_kepedulian_terhadap_kaum_lemah_miskin_tersingkir_dan_difabel_KLMTD_menunjukan_sikap_umat_beriman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44581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Gereja_sudah_mengupayakan_dan_menyuarakan_seruan_untuk_kepedulian_terhadap_KLMTD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Lingkungan Hidup dan Tanggung Jawab Sosial</a:t>
            </a:r>
          </a:p>
        </p:txBody>
      </p:sp>
      <p:pic>
        <p:nvPicPr>
          <p:cNvPr id="3" name="Picture 2" descr="Lingkungan_Hidup_dan_Tanggung_Jawab_Sosial_Saya_turut_aktif_dalam_perbuatan_kasih_ataupun_kegiatan_untuk_KLMTD__3D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63485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9E07-F805-161D-E173-705FAD96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Legenda Umum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1C4412-7E0E-2893-192D-21E289598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143648"/>
              </p:ext>
            </p:extLst>
          </p:nvPr>
        </p:nvGraphicFramePr>
        <p:xfrm>
          <a:off x="221077" y="1463909"/>
          <a:ext cx="390448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">
                  <a:extLst>
                    <a:ext uri="{9D8B030D-6E8A-4147-A177-3AD203B41FA5}">
                      <a16:colId xmlns:a16="http://schemas.microsoft.com/office/drawing/2014/main" val="557994904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103125460"/>
                    </a:ext>
                  </a:extLst>
                </a:gridCol>
                <a:gridCol w="1037844">
                  <a:extLst>
                    <a:ext uri="{9D8B030D-6E8A-4147-A177-3AD203B41FA5}">
                      <a16:colId xmlns:a16="http://schemas.microsoft.com/office/drawing/2014/main" val="224662037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Simbol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Definisi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Responden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035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Dibawah</a:t>
                      </a:r>
                      <a:r>
                        <a:rPr lang="en-US" sz="1400" dirty="0"/>
                        <a:t> 17 </a:t>
                      </a:r>
                      <a:r>
                        <a:rPr lang="en-US" sz="1400" dirty="0" err="1"/>
                        <a:t>Tahun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234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 – 34 </a:t>
                      </a:r>
                      <a:r>
                        <a:rPr lang="en-US" sz="1400" dirty="0" err="1"/>
                        <a:t>Tahun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3074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 – 64 </a:t>
                      </a:r>
                      <a:r>
                        <a:rPr lang="en-US" sz="1400" dirty="0" err="1"/>
                        <a:t>Tahun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1270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5613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3667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6960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Laki-</a:t>
                      </a:r>
                      <a:r>
                        <a:rPr lang="en-US" sz="1400" dirty="0" err="1"/>
                        <a:t>laki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7450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Perempuan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8271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33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1136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583149"/>
                  </a:ext>
                </a:extLst>
              </a:tr>
            </a:tbl>
          </a:graphicData>
        </a:graphic>
      </p:graphicFrame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43ED4442-AFCD-CEE5-D31E-686880A02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632" y="2072425"/>
            <a:ext cx="274320" cy="274320"/>
          </a:xfrm>
          <a:prstGeom prst="rect">
            <a:avLst/>
          </a:prstGeom>
        </p:spPr>
      </p:pic>
      <p:pic>
        <p:nvPicPr>
          <p:cNvPr id="43" name="Graphic 42" descr="Man with cane with solid fill">
            <a:extLst>
              <a:ext uri="{FF2B5EF4-FFF2-40B4-BE49-F238E27FC236}">
                <a16:creationId xmlns:a16="http://schemas.microsoft.com/office/drawing/2014/main" id="{7A7CD203-08CB-9803-D395-6B64547EF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349" y="2677199"/>
            <a:ext cx="274320" cy="274320"/>
          </a:xfrm>
          <a:prstGeom prst="rect">
            <a:avLst/>
          </a:prstGeom>
        </p:spPr>
      </p:pic>
      <p:pic>
        <p:nvPicPr>
          <p:cNvPr id="44" name="Graphic 43" descr="Man with kid with solid fill">
            <a:extLst>
              <a:ext uri="{FF2B5EF4-FFF2-40B4-BE49-F238E27FC236}">
                <a16:creationId xmlns:a16="http://schemas.microsoft.com/office/drawing/2014/main" id="{E09B1E05-3A9F-B18B-2874-BE28B50C07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9493" y="2389388"/>
            <a:ext cx="274320" cy="274320"/>
          </a:xfrm>
          <a:prstGeom prst="rect">
            <a:avLst/>
          </a:prstGeom>
        </p:spPr>
      </p:pic>
      <p:pic>
        <p:nvPicPr>
          <p:cNvPr id="50" name="Graphic 49" descr="Female with solid fill">
            <a:extLst>
              <a:ext uri="{FF2B5EF4-FFF2-40B4-BE49-F238E27FC236}">
                <a16:creationId xmlns:a16="http://schemas.microsoft.com/office/drawing/2014/main" id="{CF66613E-2D04-5251-D9A7-35A3BF081A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632" y="3924305"/>
            <a:ext cx="274320" cy="274320"/>
          </a:xfrm>
          <a:prstGeom prst="rect">
            <a:avLst/>
          </a:prstGeom>
        </p:spPr>
      </p:pic>
      <p:pic>
        <p:nvPicPr>
          <p:cNvPr id="51" name="Graphic 50" descr="Male with solid fill">
            <a:extLst>
              <a:ext uri="{FF2B5EF4-FFF2-40B4-BE49-F238E27FC236}">
                <a16:creationId xmlns:a16="http://schemas.microsoft.com/office/drawing/2014/main" id="{A9949BED-5386-10F1-B020-DC4C65062B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349" y="3611021"/>
            <a:ext cx="274320" cy="27432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F8D2BF-798A-F1F5-205A-0293635CC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891975"/>
              </p:ext>
            </p:extLst>
          </p:nvPr>
        </p:nvGraphicFramePr>
        <p:xfrm>
          <a:off x="4996527" y="1461840"/>
          <a:ext cx="390448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812">
                  <a:extLst>
                    <a:ext uri="{9D8B030D-6E8A-4147-A177-3AD203B41FA5}">
                      <a16:colId xmlns:a16="http://schemas.microsoft.com/office/drawing/2014/main" val="557994904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103125460"/>
                    </a:ext>
                  </a:extLst>
                </a:gridCol>
                <a:gridCol w="1037844">
                  <a:extLst>
                    <a:ext uri="{9D8B030D-6E8A-4147-A177-3AD203B41FA5}">
                      <a16:colId xmlns:a16="http://schemas.microsoft.com/office/drawing/2014/main" val="224662037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Simbol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Definisi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Responden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035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Belum </a:t>
                      </a:r>
                      <a:r>
                        <a:rPr lang="en-US" sz="1400" dirty="0" err="1"/>
                        <a:t>Menikah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4234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Menikah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belum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memiliki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anak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13074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Menikah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memiliki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anak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1270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Menikah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Sudah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berpisah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5613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3667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6960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400" dirty="0"/>
                        <a:t>&lt;SMA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Belum lulus 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7450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400" dirty="0"/>
                        <a:t>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Lulus 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8271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400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Lulus 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733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400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Lulus 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3704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400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Lulus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058069"/>
                  </a:ext>
                </a:extLst>
              </a:tr>
            </a:tbl>
          </a:graphicData>
        </a:graphic>
      </p:graphicFrame>
      <p:pic>
        <p:nvPicPr>
          <p:cNvPr id="6" name="Graphic 5" descr="Child with balloon with solid fill">
            <a:extLst>
              <a:ext uri="{FF2B5EF4-FFF2-40B4-BE49-F238E27FC236}">
                <a16:creationId xmlns:a16="http://schemas.microsoft.com/office/drawing/2014/main" id="{C87D649F-AED5-43D5-1601-3DBBD990DD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8056" y="1774970"/>
            <a:ext cx="338907" cy="274320"/>
          </a:xfrm>
          <a:prstGeom prst="rect">
            <a:avLst/>
          </a:prstGeom>
        </p:spPr>
      </p:pic>
      <p:pic>
        <p:nvPicPr>
          <p:cNvPr id="52" name="Graphic 51" descr="Man outline">
            <a:extLst>
              <a:ext uri="{FF2B5EF4-FFF2-40B4-BE49-F238E27FC236}">
                <a16:creationId xmlns:a16="http://schemas.microsoft.com/office/drawing/2014/main" id="{4EA95A89-5BDF-F985-8D4F-4A1D89DE0E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50182" y="1795627"/>
            <a:ext cx="274320" cy="274320"/>
          </a:xfrm>
          <a:prstGeom prst="rect">
            <a:avLst/>
          </a:prstGeom>
        </p:spPr>
      </p:pic>
      <p:pic>
        <p:nvPicPr>
          <p:cNvPr id="53" name="Graphic 52" descr="Man and woman outline">
            <a:extLst>
              <a:ext uri="{FF2B5EF4-FFF2-40B4-BE49-F238E27FC236}">
                <a16:creationId xmlns:a16="http://schemas.microsoft.com/office/drawing/2014/main" id="{38BF1A14-E83D-D105-65BD-95D7721926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50182" y="2095615"/>
            <a:ext cx="274320" cy="274320"/>
          </a:xfrm>
          <a:prstGeom prst="rect">
            <a:avLst/>
          </a:prstGeom>
        </p:spPr>
      </p:pic>
      <p:pic>
        <p:nvPicPr>
          <p:cNvPr id="54" name="Graphic 53" descr="Family with girl outline">
            <a:extLst>
              <a:ext uri="{FF2B5EF4-FFF2-40B4-BE49-F238E27FC236}">
                <a16:creationId xmlns:a16="http://schemas.microsoft.com/office/drawing/2014/main" id="{6D9F1A9A-B339-AA35-0264-3D493129A00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50182" y="2395603"/>
            <a:ext cx="274320" cy="274320"/>
          </a:xfrm>
          <a:prstGeom prst="rect">
            <a:avLst/>
          </a:prstGeom>
        </p:spPr>
      </p:pic>
      <p:pic>
        <p:nvPicPr>
          <p:cNvPr id="55" name="Graphic 54" descr="Broken Heart with solid fill">
            <a:extLst>
              <a:ext uri="{FF2B5EF4-FFF2-40B4-BE49-F238E27FC236}">
                <a16:creationId xmlns:a16="http://schemas.microsoft.com/office/drawing/2014/main" id="{32A9F7D4-897E-5532-86EA-35A91CF975A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50182" y="2695590"/>
            <a:ext cx="274320" cy="274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C498E0-491C-E23B-C3CB-93AE2B289912}"/>
              </a:ext>
            </a:extLst>
          </p:cNvPr>
          <p:cNvSpPr txBox="1"/>
          <p:nvPr/>
        </p:nvSpPr>
        <p:spPr>
          <a:xfrm>
            <a:off x="1929384" y="5678424"/>
            <a:ext cx="541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</a:t>
            </a:r>
            <a:r>
              <a:rPr lang="en-US" dirty="0" err="1"/>
              <a:t>Responden</a:t>
            </a:r>
            <a:r>
              <a:rPr lang="en-US" dirty="0"/>
              <a:t> = 556</a:t>
            </a:r>
          </a:p>
        </p:txBody>
      </p:sp>
    </p:spTree>
    <p:extLst>
      <p:ext uri="{BB962C8B-B14F-4D97-AF65-F5344CB8AC3E}">
        <p14:creationId xmlns:p14="http://schemas.microsoft.com/office/powerpoint/2010/main" val="3443704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087E-DC33-1F9E-6BBC-EDEC2D87D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Kebijakan</a:t>
            </a:r>
            <a:r>
              <a:rPr lang="en-US" dirty="0"/>
              <a:t> Paroki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FFF2BD-9C32-004A-7EE2-92A740151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689464"/>
              </p:ext>
            </p:extLst>
          </p:nvPr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040853-C787-B77B-2B05-0CB756A7B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352335"/>
              </p:ext>
            </p:extLst>
          </p:nvPr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3449AC-741E-DBAE-35D5-ABF80095E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657058"/>
              </p:ext>
            </p:extLst>
          </p:nvPr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F0600F8-A55E-4CC1-EC89-808212147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085750"/>
              </p:ext>
            </p:extLst>
          </p:nvPr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407D75D6-8649-E59A-D9DA-8D92BA202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1172D3CF-1E1D-D321-8FD4-46343FD15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AFC2DB96-ABA7-F1F9-7B05-744C5C9610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54470452-EB16-5D24-C45A-D91EEC35C8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EA7C0E59-2AB7-2DC2-7CE3-9CEE98C056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CBBFB00F-C529-8FF1-2487-477D5E05B0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1965755-C7C5-B91E-C24B-847615AEF53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2139950"/>
            <a:ext cx="9144000" cy="74930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6A97C8A6-1AED-9058-ABDF-84C9120A61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AB0BE3D9-9F34-47A5-FFAF-4BAB36EA101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C81F1247-3F28-9965-8272-68F3C56BFA0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AD57FDFD-731E-6D04-8BC2-F1600B158ED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6A333C3-4C07-C5CA-4C1C-EF423663C35A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E577A7-90E4-F3A5-1A86-C3721FB9DD91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3A57E0-326D-061D-D22B-050D170835FF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B5DC83-26AD-6DBC-1996-4938A8500354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64E114-CECD-8B4C-AEF4-A2613EE57250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</p:spTree>
    <p:extLst>
      <p:ext uri="{BB962C8B-B14F-4D97-AF65-F5344CB8AC3E}">
        <p14:creationId xmlns:p14="http://schemas.microsoft.com/office/powerpoint/2010/main" val="3284560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18C32-3C96-26E1-1C7E-199A80121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931E-6258-6584-90FB-A6C4022D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Fasilitas</a:t>
            </a:r>
            <a:r>
              <a:rPr lang="en-US" dirty="0"/>
              <a:t> dan </a:t>
            </a:r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Gereja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15806B-28FF-D406-EE02-987E59840914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A3A1D72-5E35-D1CA-6074-57E7D4FB5685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C3BC541-E0D7-E9C7-9FE0-A5BD4661F6D2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2E5DEC-A193-1BFE-BAD8-112D309EA562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60738E72-35E3-03A2-4DE9-4E219231A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E131D26D-24ED-7F5F-BE39-24678C76C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DBE3A3A3-06C8-92B3-C1B6-A849C93309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B5446ECC-DE77-7398-CC71-4BB195237D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AD45B772-101D-E7A7-F9FF-FAE74A6873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5008AD0B-82DE-F30C-7A5A-EE48AA8142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95192439-C3F9-97D0-2536-5A234135A21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52AECF00-3BE1-3C28-C9D3-8E10DCF5DF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78AB2D97-046F-EC87-79EB-F0284350B3D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FA76D339-32A9-1244-06D1-51154D1E417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5A091A9-2CDD-F1C5-DCCF-B690F59872C1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FC1386-26DC-4393-F740-F612D3CC0C6C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5FF138-34E6-D4D4-F032-5984868EDE7B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FF54E6-A63F-E3A2-E864-AD217A004929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476217-0B2E-5863-9856-DDF0DA456989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69CFB-537C-BF7D-2145-3D1F5524321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2111883"/>
            <a:ext cx="912723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884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3330-5CAB-9538-FC00-6B3C6610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D3C9F-5223-CB75-CFCF-3F597D4F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Fasilitas</a:t>
            </a:r>
            <a:r>
              <a:rPr lang="en-US" b="1" dirty="0"/>
              <a:t> dan </a:t>
            </a:r>
            <a:r>
              <a:rPr lang="en-US" b="1" dirty="0" err="1"/>
              <a:t>Lingkungan</a:t>
            </a:r>
            <a:r>
              <a:rPr lang="en-US" b="1" dirty="0"/>
              <a:t> Kapel MBL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46001F-1CC3-339E-B6E5-3229A74E9981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DF9101-540B-216B-7134-3096A4CFE4D6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DBE56C3-44BE-DC31-75DF-87B4E5D1626E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54438E8-984E-848D-59C9-A5811DF2ECEF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F3E6E9A3-1F8D-0876-DD4D-59E7B6FD4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BD2216D1-A088-CAF9-A5D2-0E344FC57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A8C9D4EA-4BB2-CAE4-54E9-BD8EFC0E71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69204F20-06A9-A776-4B3A-47B4AE9C34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F4744FDE-17F4-471A-BB50-3073A4E54F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60F261EF-9027-01E5-88F2-B0232AB700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3153CEF6-22C7-284F-161D-CED0360B18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74326CCC-44F7-C7D4-2B17-FB6F931CB3C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7312D9F4-9B22-6881-DC11-D8B890794A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0CFC3EEC-980D-5025-2A6D-4867091026E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D5CC49B-F848-F448-0E79-2533EF7C5DD0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F3C38A-B13B-5031-3BBB-AB267B2FEE4D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7B2F6E-F423-AEC9-D7AF-E4B0E2C63382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B52609-4473-AD25-D054-B026C7D47F23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602B38-7CB0-C79C-65AC-67525A8CE01B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BB1FA-70B7-7BF3-9E15-CDEE484FA7E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2140585"/>
            <a:ext cx="9127236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4818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D782-77E9-907B-71A6-D4556277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1991-A2EB-FCDB-CDA6-301F5BAC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Frekuensi</a:t>
            </a:r>
            <a:r>
              <a:rPr lang="en-US" b="1" dirty="0"/>
              <a:t> </a:t>
            </a:r>
            <a:r>
              <a:rPr lang="en-US" b="1" dirty="0" err="1"/>
              <a:t>Mengikuti</a:t>
            </a:r>
            <a:r>
              <a:rPr lang="en-US" b="1" dirty="0"/>
              <a:t> Misa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DF7225B-A43D-29D6-1C07-A92F98356E03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9BD42C-12FD-FAE2-5B87-1D0E474E31EA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5B96044-3584-F5B8-FDC7-44684D9670FD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0A9468A-FF7B-6FC1-4913-EE5D50265BD3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4949DA05-6D8F-AA26-C914-BC6F07472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83B0CCF2-53D9-9D11-1EC3-928319359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69F155FF-691D-CAAC-41E2-8CA4CA75F5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B8902A5B-FF72-C8FF-A06D-4902DCFF69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06B2350B-CAD9-B33E-823D-C6AE1A8437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63391736-688B-EF53-F884-10D740227C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E19E06C8-4380-AF5C-CED1-C74215016A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812F953D-A34A-195D-F5EA-95D31A875C5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560E9594-7798-E06C-5C62-3E02FAD9609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D2FFE611-7A7D-C2F3-A66A-80751C396EE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04CF443-0E6A-0223-93B7-142A49F150A0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754341-63CE-7361-2CF6-6808E6650682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BCF97A-F3BE-D197-FE88-537428E31F41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D3D664-C79C-68B1-3AC7-97C09622C92C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4B24F4-E465-4CF0-B748-CCDD1995C455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9D7001-581F-9619-FC46-4C4F2DF7F96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2121649"/>
            <a:ext cx="91440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879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AE7AC-BF4F-1159-802D-AFFE65C84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461E-81C8-7239-B9EF-753A4D54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Iman dan </a:t>
            </a:r>
            <a:r>
              <a:rPr lang="en-US" b="1" dirty="0" err="1"/>
              <a:t>Perjalanan</a:t>
            </a:r>
            <a:r>
              <a:rPr lang="en-US" b="1" dirty="0"/>
              <a:t> Spiritual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9E2ED1-E344-7ACE-9307-1ED2535B6DFC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CBD839-7F6E-9DA9-444A-BF861629C8FA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7B0580-1536-D040-F60F-90994940EDDA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66801DD-45F5-B41A-8AA4-DC3C01621B1E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5F35D64F-2CB3-6B7B-A8A2-4AB70FA50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2195FA76-6AE3-1CB3-E0E0-78DE2EDE03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0A4DF83D-6251-20CA-E2ED-CEFF9D39F3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257B3AEF-2D8E-AECA-5AE1-5A68AD9098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4ED83785-4BAD-C840-73DC-9A183E8BF2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C7EFD584-D747-EF7E-AF09-5E7EF0E988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C2CAD742-1113-419A-5338-F4F13CA9B0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5098F344-D1AF-67BC-7342-06E0A7ADC3D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215062AD-08D6-6F89-3515-050088CA409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57208209-77D2-8E6C-3F85-86635B7017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E9E5C7B-61CB-8DCA-0BC2-9962B807976A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78900F-893B-5D06-E73D-07EFEEE3908A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F117BA-4205-9646-A20A-84E43A8AE9D9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E1F1EA-6299-8B0B-944C-49CC0619A562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FA3F06-AE94-9E47-8DC0-8C88F7BBD023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EDA8C-1BD8-DC23-7F8C-1981EA69AD2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2115123"/>
            <a:ext cx="91440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998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FEFD-3E73-A97E-A38E-0D8481BD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76FA-3C02-B135-E365-5A5EE35E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Kualitas</a:t>
            </a:r>
            <a:r>
              <a:rPr lang="en-US" b="1" dirty="0"/>
              <a:t> </a:t>
            </a:r>
            <a:r>
              <a:rPr lang="en-US" b="1" dirty="0" err="1"/>
              <a:t>Homili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3E6F2C7-AF6B-5F54-B016-DBB8017B1F84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D59F392-E46A-2760-E2DB-84302269D67B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F710FC4-0855-B982-E4DE-A4265DF61E7F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24713B3-BBF8-8933-C67C-24DEF7D8B0E2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70FC13D1-4F4A-42A5-4CC3-FCE9CD01C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2D825144-7A03-1395-E4DE-BE82A45353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C361F5CD-624F-B07F-F469-C37A055D2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4099B57E-15D3-BE51-07CB-56F7F5AC2B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FE91E07D-71FD-81C0-C693-178A079A10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92798952-FE56-DF16-AF5E-AAD6F5988A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0F1D4847-6A22-40BA-24E6-92D67B8167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358E3162-209B-32AF-F22C-35B316D875F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63868E78-1521-EC9F-D44E-382FD7646E9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FD4E6FB8-00B8-6A2B-1698-4FAC012780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C188E6F-DA00-4BDD-5509-C7B6906F50F6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A4D727-A9DC-8266-8053-440C3F43BBAA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2FFF0A-5338-13F4-DFCD-DDBD4BCB38CE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FD89E1-F02E-9D99-3EBA-9FED97AE92C6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F0A13B-1E8A-92EF-BFC7-112065BE2F3E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36EEC1-AC6C-5B52-BF9F-7C134998C91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2095844"/>
            <a:ext cx="9155239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651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38E4-5C31-A85A-BAE2-F220E1D7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6D47-B98E-FB32-E3F4-02F25C1B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Lingkungan</a:t>
            </a:r>
            <a:r>
              <a:rPr lang="en-US" b="1" dirty="0"/>
              <a:t> dan </a:t>
            </a:r>
            <a:r>
              <a:rPr lang="en-US" b="1" dirty="0" err="1"/>
              <a:t>Tanggung</a:t>
            </a:r>
            <a:r>
              <a:rPr lang="en-US" b="1" dirty="0"/>
              <a:t> Jawab </a:t>
            </a:r>
            <a:r>
              <a:rPr lang="en-US" b="1" dirty="0" err="1"/>
              <a:t>Sosial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69954F2-F287-0F84-09AA-4A5662B33C8F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3A6772-3544-886F-0902-35BC26739FDC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68A6C0-8492-B3E7-EE50-CDE505C09AD8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33AAA4E-5ABC-B049-BEDA-E44FBA9E200E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0371181B-6811-30AC-26DF-F18C8908E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ABAC71F6-86AD-B118-0FBA-EA37E77DE0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423F3562-708D-5849-2037-0C9CBF982A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99208FA1-9A61-AEBC-FA1F-CD9F44963B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2A1877F6-6026-285F-3FAC-7A7E55674B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DF55AD6D-1F84-4B3D-372F-A04026D357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84749645-192C-ACDA-34DF-B39F426CFD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5A6D2507-592E-CC73-9760-FF6B25D3CF5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83592546-A2BC-4A61-9F51-82A48D1775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0FFABBCF-E7FA-1E04-98C4-62065FF670A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0606ADC-603C-CACB-BCA8-507D4D6C9A80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4540ED-A37B-00C7-13FF-10C67AB292F6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FE8795-9646-2F8F-5CB7-9496B26D7E5C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F7A8B6-60E1-7FB1-2CF4-9F945DAA4B0D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9ABD37-8A9B-90FA-DF1B-53C2D51DCF92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FC265-C17D-F546-5F1F-7130D1FB917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64" y="2128146"/>
            <a:ext cx="9110472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083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B697-A36B-1601-ADCC-172A2AFD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3E7D-631D-FA0B-0191-A786764E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Partisipasi</a:t>
            </a:r>
            <a:r>
              <a:rPr lang="en-US" b="1" dirty="0"/>
              <a:t> </a:t>
            </a:r>
            <a:r>
              <a:rPr lang="en-US" b="1" dirty="0" err="1"/>
              <a:t>Kegiatan</a:t>
            </a:r>
            <a:r>
              <a:rPr lang="en-US" b="1" dirty="0"/>
              <a:t> Paroki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6FCD42-70CB-DB2E-4DA9-A9DAB24816E9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59E009-DEAE-5FFA-FA0C-A11A0416FD28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A96C93-2E00-65E7-7219-BAF9BBF231CD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4A2E94-04A2-61C6-D6BA-BB9A27635A7A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3372F0C0-2F90-F36D-34BE-8CF5C13DB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46C40146-38B6-658C-B4B9-3A1C58E87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2533E18F-EE27-AEA4-7EF1-DD78A03BB0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0DB95FA3-F517-AA19-AF9B-2D0E8D4D2E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3D139996-B52E-2509-F189-A5E4BC061A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F419CAC6-D134-07B1-49FD-55FACF268F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578AB009-8217-FF8D-117F-9FFDE05B0BE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08BECB99-25E1-7DA1-F5FB-66D31CDC014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CCABADA3-0824-A234-A13C-22C7E3DFD5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102C01AA-2AE0-BE27-D266-163C8D2312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5BE21E8-181B-071C-AEAD-383FED0ED71B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0A9D7A-2C59-9E5D-E046-8B6737B4BB8B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6076A4-AF06-D642-8892-061C3EAF3AF6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7C4A3E-CB9B-B6C4-0CF5-D003E1FAB042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D44764-165F-21BC-E8D9-891A37DFB4CF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EAF88-88D6-33F2-59F0-CE419C64A7C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64" y="2121649"/>
            <a:ext cx="9127236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240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B79D6-3ED3-1482-3555-A4B9BB98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C41D-CED4-D788-FC09-7F2819CA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Pelayanan</a:t>
            </a:r>
            <a:r>
              <a:rPr lang="en-US" b="1" dirty="0"/>
              <a:t> </a:t>
            </a:r>
            <a:r>
              <a:rPr lang="en-US" b="1" dirty="0" err="1"/>
              <a:t>Administrasi</a:t>
            </a:r>
            <a:r>
              <a:rPr lang="en-US" b="1" dirty="0"/>
              <a:t> dan </a:t>
            </a:r>
            <a:r>
              <a:rPr lang="en-US" b="1" dirty="0" err="1"/>
              <a:t>Informasi</a:t>
            </a:r>
            <a:endParaRPr lang="en-US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05555C-1A52-892C-F3A5-97C9D37DCE40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2A13B0-11EC-69A5-AC07-3B34DE8B9D1B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20F079F-996E-1C8D-46CE-89CCE4A21DCB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2B7187-FBD7-D6E9-5067-342E912B5456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051428A3-A0B1-8A7D-F1F4-8297EBD51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AAC1D6E2-CBF2-C9C7-81F9-3DDDD39BD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D1F9BD64-70AB-03C9-0741-ED1EC4695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B2A56E29-A0FA-8200-813A-9094E3362C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112308E0-F33C-441E-77C4-CE0CE7A157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5E77A562-5A35-E609-F9AD-FCB86AA3428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28B1CC84-7F53-A74B-08FB-8361182EFC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1201DBA9-4188-768D-91E1-662232EC107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8B0588FB-E1D8-7677-04B0-7F28CD93769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C097F4F1-BA86-D647-886E-80E9F4CA3CA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D43C19F-4221-492C-3490-A93F57F4AE41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9371B6-6BFB-B457-E2DE-68731A4BA682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60CCAE-9A2E-EC74-F273-BC3E0FE40AE5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76D5FC-249F-CAFC-DFE8-67E5C8D18828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8F9778-A9EF-B234-71C9-B2678FA5DCCD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B2DE3-B8A9-E10C-976E-0215EACE8C9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64" y="2101603"/>
            <a:ext cx="9106029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919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9B5B-5720-73F2-0613-7FED22DC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EED7-A672-8D0A-E527-D7BD7C26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Pelayanan</a:t>
            </a:r>
            <a:r>
              <a:rPr lang="en-US" b="1" dirty="0"/>
              <a:t> </a:t>
            </a:r>
            <a:r>
              <a:rPr lang="en-US" b="1" dirty="0" err="1"/>
              <a:t>Gereja</a:t>
            </a:r>
            <a:r>
              <a:rPr lang="en-US" b="1" dirty="0"/>
              <a:t> dan </a:t>
            </a:r>
            <a:r>
              <a:rPr lang="en-US" b="1" dirty="0" err="1"/>
              <a:t>Komunitas</a:t>
            </a:r>
            <a:endParaRPr lang="en-US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A7E241-4ADC-9C0C-3BE2-5F51E1C0D42C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A230F9-39A5-D968-BED5-E0C6F77D7BAA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4AAABD5-005A-90A8-D2E0-D08D0FBA546B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5103DA1-BDFC-E442-554C-49D71CC5FB15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38FB8C2E-6509-EBC5-8A11-E5180AD32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60CA7296-CD7F-9B13-F87B-D23C91B89F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90557FE7-EB82-95A8-89A0-975341A0D5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1BD21F98-088C-9087-2E00-AB336CB953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702509DF-0CD0-34AB-BB51-1928387A42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775E0B9F-6451-784F-E8AD-CFACFF8B93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C3E52390-720C-6910-1D12-68F45E1383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D40D514B-9B46-5D6B-1178-E370AA3923F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001FB10A-D663-0962-9BEE-A00BD50A2B0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7431944E-60B0-454F-E8F1-D85930C391B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1B4331C-5518-BC40-5253-2F1C6BD17495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B8059C-C1A5-78D1-C6EB-14857E2552A9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A1C933-7A90-F459-C5B4-AC4F281F1BE9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DECFF7-1402-1649-9572-CB9EB4F22C2F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834004-FCF0-7665-400C-4F17FAAE5AAC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82D76-2B9A-16A0-8477-05E7E879C0A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64" y="2120646"/>
            <a:ext cx="9110472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310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BB8A-A8E0-00C2-251B-E98F3DEC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728CC-ACBF-4732-511E-8FC15204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Pelayanan</a:t>
            </a:r>
            <a:r>
              <a:rPr lang="en-US" b="1" dirty="0"/>
              <a:t> </a:t>
            </a:r>
            <a:r>
              <a:rPr lang="en-US" b="1" dirty="0" err="1"/>
              <a:t>Liturgi</a:t>
            </a:r>
            <a:r>
              <a:rPr lang="en-US" b="1" dirty="0"/>
              <a:t> dan </a:t>
            </a:r>
            <a:r>
              <a:rPr lang="en-US" b="1" dirty="0" err="1"/>
              <a:t>Kualitas</a:t>
            </a:r>
            <a:r>
              <a:rPr lang="en-US" b="1" dirty="0"/>
              <a:t> Musik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ED5D2E-42A1-7E6C-B6E2-F97902DB35AD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894021-D8E8-8720-BF59-47ED9952566E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3A7A79D-93C5-3673-C94D-8CC2FB5DAB6D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552846-EF2F-7B10-A576-29FE31717C7C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12B88CBF-ABCB-884F-3775-E861E54A7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BA5BDEBF-D727-4C78-3113-341320CA2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F80E5B95-91B1-38DE-DD70-A0980BB60C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62C4B16F-A89D-5E30-9D65-636BF6054A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8D795BEB-9F8C-FB00-0460-BDF4E36720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20FAD37E-2562-88C4-266C-7B98473F79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C3C713AE-B00D-5445-6119-827AB13712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09F6F38B-BD9B-35D2-3D50-0909252A363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CA640A4E-8AA1-7845-885E-4210C40A1A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2BE06B58-2884-100F-D374-610F7CCBD2C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32C8D1C-C353-6425-6E8D-3F1A45FEFD89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15EE5C-0744-FB03-8CEA-C37C584A7218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BCB15E-58E3-DB59-2468-E483509750AB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30BAB3-FA2C-7B52-4C4B-061F0D6A8CE7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DC0AA4-DA67-C33E-E2FC-0FDEAE6C6CB4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72718-36D9-9AC1-C2B6-255712C4B80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64" y="2115123"/>
            <a:ext cx="9127236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430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C170-1EC3-A348-73B7-AF8877E31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F443-7670-1548-4AEA-2D2EC032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Pelayanan</a:t>
            </a:r>
            <a:r>
              <a:rPr lang="en-US" b="1" dirty="0"/>
              <a:t> </a:t>
            </a:r>
            <a:r>
              <a:rPr lang="en-US" b="1" dirty="0" err="1"/>
              <a:t>Sakramental</a:t>
            </a:r>
            <a:endParaRPr lang="en-US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5221037-B2BD-4F6B-7BB4-2E584AB8DE62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4B54FE2-4B07-06BA-6F68-E48F13E4007F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33424FB-884E-E6E8-33F4-416992B2E1A1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7E738EE-D7A7-E006-4A17-B4A79B795D7A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6F07A404-C9DC-0DDB-8480-269584BC9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4AF36E12-D03F-95F7-EB6B-64D4F6EAB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FD51FA78-C253-1954-5B96-A7F7EC91A8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8116D263-39FB-22ED-7D58-13A0C5776D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3DABC043-431D-0878-DDB6-27743DE162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1276AB39-AC5A-3904-6AE9-27283F075B9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8136E610-E0B1-74D3-1FAD-F403974420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99FCFBE2-A4C0-1283-B689-86A9766E9C4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EBF12E18-1012-6B09-4C89-024694FC42D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FCBE8469-9393-D43A-5734-0D875112B4C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7D1E4FC-C273-FC1D-3870-AE9124AA4FFF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91DD36-379A-A71D-0C98-42CDDE5D3577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AF60E0-4A97-16B3-E7CD-8D29872AF136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520648-CF48-CC9D-832F-8FCD36BCC831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8D7AC1-B553-C79C-7483-E82003215948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42695-C457-220E-C686-5D39936C829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2130412"/>
            <a:ext cx="91440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225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2B7E-3EE6-EDED-0835-1D921DD7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14B5-0172-9978-FD97-23429F76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Pemuda dan Masa </a:t>
            </a:r>
            <a:r>
              <a:rPr lang="en-US" b="1" dirty="0" err="1"/>
              <a:t>Depan</a:t>
            </a:r>
            <a:r>
              <a:rPr lang="en-US" b="1" dirty="0"/>
              <a:t> </a:t>
            </a:r>
            <a:r>
              <a:rPr lang="en-US" b="1" dirty="0" err="1"/>
              <a:t>Gereja</a:t>
            </a:r>
            <a:endParaRPr lang="en-US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CEC20F-3BCE-D34E-0771-0ECA433F5348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5E3FCD8-6E2C-8308-4AFF-F8C47B8FE0F2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3B83B25-7B23-2C78-8D31-193394A66ED9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098ACF0-EE23-B504-A015-3E8D4B683626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7B07E3F8-6FC0-BAAB-C744-043B79CB9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25209D8C-1E73-42E4-7E9A-121549389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9CFEB821-B42A-949C-33FB-AB0F228D88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B932C231-57B6-1266-05BD-21454607C3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1F008300-8B83-D3F2-FEB5-2577AE08FC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B15792F5-3015-EEBF-8935-F0E44EFBAB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351C939A-F44C-9388-D06C-D52EB86E1BA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BC6C6620-849B-1999-872C-37DEA55DF2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6E6E0ED7-69A2-40AF-C278-734F1C20AAE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7EDBA85C-C6A1-B4F9-D41E-B7256B93B90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A11FBED-8836-49B8-8509-826F54F1E8E1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ADDB98-97EA-70E5-32F5-6FE6FE308CEE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88D08F-FE5E-9CDA-FAD3-A8C5151244D3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ABBA22-A946-F6AD-D4CA-A70CBEE33A5A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F8BAA7-8D4D-1FC1-169B-4C26EB191189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4CB39-9CE8-0C7D-8E1A-99A99A96513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64" y="2128146"/>
            <a:ext cx="9110472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531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3915F-ABA9-4304-2500-84342B19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000A-113E-8D97-59EA-42C6D053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Peziarahan</a:t>
            </a:r>
            <a:r>
              <a:rPr lang="en-US" b="1" dirty="0"/>
              <a:t> dan </a:t>
            </a:r>
            <a:r>
              <a:rPr lang="en-US" b="1" dirty="0" err="1"/>
              <a:t>Kegiatan</a:t>
            </a:r>
            <a:r>
              <a:rPr lang="en-US" b="1" dirty="0"/>
              <a:t> </a:t>
            </a:r>
            <a:r>
              <a:rPr lang="en-US" b="1" dirty="0" err="1"/>
              <a:t>Yubileum</a:t>
            </a:r>
            <a:endParaRPr lang="en-US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26E5E5-9AF8-C998-D66C-B1C98DF513DD}"/>
              </a:ext>
            </a:extLst>
          </p:cNvPr>
          <p:cNvGraphicFramePr>
            <a:graphicFrameLocks noGrp="1"/>
          </p:cNvGraphicFramePr>
          <p:nvPr/>
        </p:nvGraphicFramePr>
        <p:xfrm>
          <a:off x="3560064" y="1769110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8C980C3-D7EC-0C2A-E31F-B5EF5741AE3E}"/>
              </a:ext>
            </a:extLst>
          </p:cNvPr>
          <p:cNvGraphicFramePr>
            <a:graphicFrameLocks noGrp="1"/>
          </p:cNvGraphicFramePr>
          <p:nvPr/>
        </p:nvGraphicFramePr>
        <p:xfrm>
          <a:off x="5882640" y="1773693"/>
          <a:ext cx="13990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758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9758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F6C761-8FA5-A0D7-05FA-D8F933881264}"/>
              </a:ext>
            </a:extLst>
          </p:cNvPr>
          <p:cNvGraphicFramePr>
            <a:graphicFrameLocks noGrp="1"/>
          </p:cNvGraphicFramePr>
          <p:nvPr/>
        </p:nvGraphicFramePr>
        <p:xfrm>
          <a:off x="7389876" y="1769110"/>
          <a:ext cx="17373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247358199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42393192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1043055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9BF287-9409-ADB1-D3FA-A80101A2B765}"/>
              </a:ext>
            </a:extLst>
          </p:cNvPr>
          <p:cNvGraphicFramePr>
            <a:graphicFrameLocks noGrp="1"/>
          </p:cNvGraphicFramePr>
          <p:nvPr/>
        </p:nvGraphicFramePr>
        <p:xfrm>
          <a:off x="5097780" y="1773693"/>
          <a:ext cx="694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1685227728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870405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275783"/>
                  </a:ext>
                </a:extLst>
              </a:tr>
            </a:tbl>
          </a:graphicData>
        </a:graphic>
      </p:graphicFrame>
      <p:pic>
        <p:nvPicPr>
          <p:cNvPr id="14" name="Graphic 13" descr="Child with balloon with solid fill">
            <a:extLst>
              <a:ext uri="{FF2B5EF4-FFF2-40B4-BE49-F238E27FC236}">
                <a16:creationId xmlns:a16="http://schemas.microsoft.com/office/drawing/2014/main" id="{EEE2EACA-A543-4DF4-C916-94B64A920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064" y="1796863"/>
            <a:ext cx="393192" cy="318260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0AFA151D-3566-3CE9-B248-8BCE6CDC4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3444" y="1796863"/>
            <a:ext cx="320040" cy="320040"/>
          </a:xfrm>
          <a:prstGeom prst="rect">
            <a:avLst/>
          </a:prstGeom>
        </p:spPr>
      </p:pic>
      <p:pic>
        <p:nvPicPr>
          <p:cNvPr id="18" name="Graphic 17" descr="Man with cane with solid fill">
            <a:extLst>
              <a:ext uri="{FF2B5EF4-FFF2-40B4-BE49-F238E27FC236}">
                <a16:creationId xmlns:a16="http://schemas.microsoft.com/office/drawing/2014/main" id="{98036462-7905-CBAD-4A8C-15AC2D4C26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2106" y="1797622"/>
            <a:ext cx="320040" cy="320040"/>
          </a:xfrm>
          <a:prstGeom prst="rect">
            <a:avLst/>
          </a:prstGeom>
        </p:spPr>
      </p:pic>
      <p:pic>
        <p:nvPicPr>
          <p:cNvPr id="20" name="Graphic 19" descr="Man with kid with solid fill">
            <a:extLst>
              <a:ext uri="{FF2B5EF4-FFF2-40B4-BE49-F238E27FC236}">
                <a16:creationId xmlns:a16="http://schemas.microsoft.com/office/drawing/2014/main" id="{530340E5-440A-A623-5022-61E4A173A6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88536" y="1797622"/>
            <a:ext cx="320040" cy="320040"/>
          </a:xfrm>
          <a:prstGeom prst="rect">
            <a:avLst/>
          </a:prstGeom>
        </p:spPr>
      </p:pic>
      <p:pic>
        <p:nvPicPr>
          <p:cNvPr id="22" name="Graphic 21" descr="Female with solid fill">
            <a:extLst>
              <a:ext uri="{FF2B5EF4-FFF2-40B4-BE49-F238E27FC236}">
                <a16:creationId xmlns:a16="http://schemas.microsoft.com/office/drawing/2014/main" id="{0DF194E2-E6E4-ACCF-7F13-A9471BED95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60111" y="1801903"/>
            <a:ext cx="320040" cy="320040"/>
          </a:xfrm>
          <a:prstGeom prst="rect">
            <a:avLst/>
          </a:prstGeom>
        </p:spPr>
      </p:pic>
      <p:pic>
        <p:nvPicPr>
          <p:cNvPr id="24" name="Graphic 23" descr="Male with solid fill">
            <a:extLst>
              <a:ext uri="{FF2B5EF4-FFF2-40B4-BE49-F238E27FC236}">
                <a16:creationId xmlns:a16="http://schemas.microsoft.com/office/drawing/2014/main" id="{45569609-A648-FCBC-7E5F-D57E58E7E1D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4638" y="1817462"/>
            <a:ext cx="320040" cy="320040"/>
          </a:xfrm>
          <a:prstGeom prst="rect">
            <a:avLst/>
          </a:prstGeom>
        </p:spPr>
      </p:pic>
      <p:pic>
        <p:nvPicPr>
          <p:cNvPr id="27" name="Graphic 26" descr="Man outline">
            <a:extLst>
              <a:ext uri="{FF2B5EF4-FFF2-40B4-BE49-F238E27FC236}">
                <a16:creationId xmlns:a16="http://schemas.microsoft.com/office/drawing/2014/main" id="{84AC7F95-9C9F-017F-0AEA-8646CF233AA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15599" y="1801903"/>
            <a:ext cx="320040" cy="320040"/>
          </a:xfrm>
          <a:prstGeom prst="rect">
            <a:avLst/>
          </a:prstGeom>
        </p:spPr>
      </p:pic>
      <p:pic>
        <p:nvPicPr>
          <p:cNvPr id="29" name="Graphic 28" descr="Man and woman outline">
            <a:extLst>
              <a:ext uri="{FF2B5EF4-FFF2-40B4-BE49-F238E27FC236}">
                <a16:creationId xmlns:a16="http://schemas.microsoft.com/office/drawing/2014/main" id="{E5A390B9-7186-6491-BD32-013BD8A98ED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62116" y="1804161"/>
            <a:ext cx="320040" cy="320040"/>
          </a:xfrm>
          <a:prstGeom prst="rect">
            <a:avLst/>
          </a:prstGeom>
        </p:spPr>
      </p:pic>
      <p:pic>
        <p:nvPicPr>
          <p:cNvPr id="31" name="Graphic 30" descr="Family with girl outline">
            <a:extLst>
              <a:ext uri="{FF2B5EF4-FFF2-40B4-BE49-F238E27FC236}">
                <a16:creationId xmlns:a16="http://schemas.microsoft.com/office/drawing/2014/main" id="{BE9947E3-C51C-9E94-F029-F7987366C4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86730" y="1797622"/>
            <a:ext cx="320040" cy="320040"/>
          </a:xfrm>
          <a:prstGeom prst="rect">
            <a:avLst/>
          </a:prstGeom>
        </p:spPr>
      </p:pic>
      <p:pic>
        <p:nvPicPr>
          <p:cNvPr id="33" name="Graphic 32" descr="Broken Heart with solid fill">
            <a:extLst>
              <a:ext uri="{FF2B5EF4-FFF2-40B4-BE49-F238E27FC236}">
                <a16:creationId xmlns:a16="http://schemas.microsoft.com/office/drawing/2014/main" id="{2D7E1870-DD3A-BC5B-6657-B7CCAE785B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33247" y="1801903"/>
            <a:ext cx="320040" cy="3200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85032D1-6367-4DF7-86A8-E3ABFEC7AB8F}"/>
              </a:ext>
            </a:extLst>
          </p:cNvPr>
          <p:cNvSpPr txBox="1"/>
          <p:nvPr/>
        </p:nvSpPr>
        <p:spPr>
          <a:xfrm>
            <a:off x="7314631" y="1801903"/>
            <a:ext cx="521208" cy="326243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&lt;</a:t>
            </a:r>
          </a:p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D762B6-5C97-43C7-FFB6-29C0CAE908DA}"/>
              </a:ext>
            </a:extLst>
          </p:cNvPr>
          <p:cNvSpPr txBox="1"/>
          <p:nvPr/>
        </p:nvSpPr>
        <p:spPr>
          <a:xfrm>
            <a:off x="7658862" y="1881097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SMA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BB60E3-165C-DA08-1F6B-39E3A51B5759}"/>
              </a:ext>
            </a:extLst>
          </p:cNvPr>
          <p:cNvSpPr txBox="1"/>
          <p:nvPr/>
        </p:nvSpPr>
        <p:spPr>
          <a:xfrm>
            <a:off x="8002524" y="188584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C1F0C8-979E-A506-E97B-38EE6833C168}"/>
              </a:ext>
            </a:extLst>
          </p:cNvPr>
          <p:cNvSpPr txBox="1"/>
          <p:nvPr/>
        </p:nvSpPr>
        <p:spPr>
          <a:xfrm>
            <a:off x="8353806" y="188318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7D6213-5CF1-ACC9-D8D7-155FFE60369A}"/>
              </a:ext>
            </a:extLst>
          </p:cNvPr>
          <p:cNvSpPr txBox="1"/>
          <p:nvPr/>
        </p:nvSpPr>
        <p:spPr>
          <a:xfrm>
            <a:off x="8695944" y="1880523"/>
            <a:ext cx="521208" cy="172355"/>
          </a:xfrm>
          <a:prstGeom prst="rect">
            <a:avLst/>
          </a:prstGeom>
          <a:noFill/>
        </p:spPr>
        <p:txBody>
          <a:bodyPr wrap="square" lIns="27432" tIns="9144" rIns="27432" bIns="9144" rtlCol="0">
            <a:spAutoFit/>
          </a:bodyPr>
          <a:lstStyle/>
          <a:p>
            <a:pPr algn="ctr"/>
            <a:r>
              <a:rPr lang="en-US" sz="1000" b="1" dirty="0"/>
              <a:t>S3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912C0-02FE-0A4D-0F7A-84B9AECBEB1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764" y="2115123"/>
            <a:ext cx="9110472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9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489</Words>
  <Application>Microsoft Office PowerPoint</Application>
  <PresentationFormat>On-screen Show (4:3)</PresentationFormat>
  <Paragraphs>202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Frekuensi Mengikuti Misa</vt:lpstr>
      <vt:lpstr>Frekuensi Mengikuti Misa</vt:lpstr>
      <vt:lpstr>Frekuensi Mengikuti Misa</vt:lpstr>
      <vt:lpstr>Frekuensi Mengikuti Misa</vt:lpstr>
      <vt:lpstr>Frekuensi Mengikuti Misa</vt:lpstr>
      <vt:lpstr>Kualitas Homili</vt:lpstr>
      <vt:lpstr>Kualitas Homili</vt:lpstr>
      <vt:lpstr>Kualitas Homili</vt:lpstr>
      <vt:lpstr>Kualitas Homili</vt:lpstr>
      <vt:lpstr>Kualitas Homili</vt:lpstr>
      <vt:lpstr>Pelayanan Gereja dan Komunitas</vt:lpstr>
      <vt:lpstr>Pelayanan Gereja dan Komunitas</vt:lpstr>
      <vt:lpstr>Pelayanan Gereja dan Komunitas</vt:lpstr>
      <vt:lpstr>Pelayanan Gereja dan Komunitas</vt:lpstr>
      <vt:lpstr>Pelayanan Gereja dan Komunitas</vt:lpstr>
      <vt:lpstr>Pelayanan Gereja dan Komunitas</vt:lpstr>
      <vt:lpstr>Pelayanan Liturgi dan Kualitas Musik</vt:lpstr>
      <vt:lpstr>Pelayanan Liturgi dan Kualitas Musik</vt:lpstr>
      <vt:lpstr>Pelayanan Liturgi dan Kualitas Musik</vt:lpstr>
      <vt:lpstr>Pelayanan Liturgi dan Kualitas Musik</vt:lpstr>
      <vt:lpstr>Pelayanan Liturgi dan Kualitas Musik</vt:lpstr>
      <vt:lpstr>Pelayanan Liturgi dan Kualitas Musik</vt:lpstr>
      <vt:lpstr>Pelayanan Liturgi dan Kualitas Musik</vt:lpstr>
      <vt:lpstr>Pelayanan Liturgi dan Kualitas Musik</vt:lpstr>
      <vt:lpstr>Pelayanan Liturgi dan Kualitas Musik</vt:lpstr>
      <vt:lpstr>Pelayanan Liturgi dan Kualitas Musik</vt:lpstr>
      <vt:lpstr>Pelayanan Administrasi dan Informasi</vt:lpstr>
      <vt:lpstr>Pelayanan Administrasi dan Informasi</vt:lpstr>
      <vt:lpstr>Pelayanan Sakramental</vt:lpstr>
      <vt:lpstr>Pelayanan Sakramental</vt:lpstr>
      <vt:lpstr>Pelayanan Sakramental</vt:lpstr>
      <vt:lpstr>Pelayanan Sakramental</vt:lpstr>
      <vt:lpstr>Fasilitas dan Lingkungan Gereja</vt:lpstr>
      <vt:lpstr>Fasilitas dan Lingkungan Gereja</vt:lpstr>
      <vt:lpstr>Fasilitas dan Lingkungan Gereja</vt:lpstr>
      <vt:lpstr>Fasilitas dan Lingkungan Gereja</vt:lpstr>
      <vt:lpstr>Fasilitas dan Lingkungan Gereja</vt:lpstr>
      <vt:lpstr>Fasilitas dan Lingkungan Kapel (Boleh dikosongkan jika belum pernah mengunjungi Kapel Maria Bintang Laut)</vt:lpstr>
      <vt:lpstr>Fasilitas dan Lingkungan Kapel (Boleh dikosongkan jika belum pernah mengunjungi Kapel Maria Bintang Laut)</vt:lpstr>
      <vt:lpstr>Fasilitas dan Lingkungan Kapel (Boleh dikosongkan jika belum pernah mengunjungi Kapel Maria Bintang Laut)</vt:lpstr>
      <vt:lpstr>Dampak Kebijakan Paroki</vt:lpstr>
      <vt:lpstr>Dampak Kebijakan Paroki</vt:lpstr>
      <vt:lpstr>Partisipasi Kegiatan Paroki</vt:lpstr>
      <vt:lpstr>Partisipasi Kegiatan Paroki</vt:lpstr>
      <vt:lpstr>Iman dan Perjalanan Spiritual</vt:lpstr>
      <vt:lpstr>Iman dan Perjalanan Spiritual</vt:lpstr>
      <vt:lpstr>Iman dan Perjalanan Spiritual</vt:lpstr>
      <vt:lpstr>Peziarahan dan Kegiatan Yubileum</vt:lpstr>
      <vt:lpstr>Peziarahan dan Kegiatan Yubileum</vt:lpstr>
      <vt:lpstr>Peziarahan dan Kegiatan Yubileum</vt:lpstr>
      <vt:lpstr>Peziarahan dan Kegiatan Yubileum</vt:lpstr>
      <vt:lpstr>Peziarahan dan Kegiatan Yubileum</vt:lpstr>
      <vt:lpstr>Pemuda dan Masa Depan Gereja</vt:lpstr>
      <vt:lpstr>Pemuda dan Masa Depan Gereja</vt:lpstr>
      <vt:lpstr>Pemuda dan Masa Depan Gereja</vt:lpstr>
      <vt:lpstr>Lingkungan Hidup dan Tanggung Jawab Sosial</vt:lpstr>
      <vt:lpstr>Lingkungan Hidup dan Tanggung Jawab Sosial</vt:lpstr>
      <vt:lpstr>Lingkungan Hidup dan Tanggung Jawab Sosial</vt:lpstr>
      <vt:lpstr>Lingkungan Hidup dan Tanggung Jawab Sosial</vt:lpstr>
      <vt:lpstr>Lingkungan Hidup dan Tanggung Jawab Sosial</vt:lpstr>
      <vt:lpstr>Lingkungan Hidup dan Tanggung Jawab Sosial</vt:lpstr>
      <vt:lpstr>Legenda Umum</vt:lpstr>
      <vt:lpstr>Dampak Kebijakan Paroki </vt:lpstr>
      <vt:lpstr>Fasilitas dan Lingkungan Gereja</vt:lpstr>
      <vt:lpstr>Fasilitas dan Lingkungan Kapel MBL</vt:lpstr>
      <vt:lpstr>Frekuensi Mengikuti Misa</vt:lpstr>
      <vt:lpstr>Iman dan Perjalanan Spiritual</vt:lpstr>
      <vt:lpstr>Kualitas Homili</vt:lpstr>
      <vt:lpstr>Lingkungan dan Tanggung Jawab Sosial</vt:lpstr>
      <vt:lpstr>Partisipasi Kegiatan Paroki </vt:lpstr>
      <vt:lpstr>Pelayanan Administrasi dan Informasi</vt:lpstr>
      <vt:lpstr>Pelayanan Gereja dan Komunitas</vt:lpstr>
      <vt:lpstr>Pelayanan Liturgi dan Kualitas Musik</vt:lpstr>
      <vt:lpstr>Pelayanan Sakramental</vt:lpstr>
      <vt:lpstr>Pemuda dan Masa Depan Gereja</vt:lpstr>
      <vt:lpstr>Peziarahan dan Kegiatan Yubileum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Thong, Sintyadi</cp:lastModifiedBy>
  <cp:revision>2</cp:revision>
  <dcterms:created xsi:type="dcterms:W3CDTF">2013-01-27T09:14:16Z</dcterms:created>
  <dcterms:modified xsi:type="dcterms:W3CDTF">2026-01-28T12:49:22Z</dcterms:modified>
  <cp:category/>
</cp:coreProperties>
</file>